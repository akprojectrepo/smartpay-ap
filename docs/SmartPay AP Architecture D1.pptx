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SmartPay 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ACCEE"/>
                </a:solidFill>
                <a:latin typeface="Calibri"/>
              </a:rPr>
              <a:t>Agentic AI Platform for Invoice Reconciliation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429000"/>
            <a:ext cx="457200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BBBB"/>
                </a:solidFill>
                <a:latin typeface="Calibri"/>
              </a:rPr>
              <a:t>Acme Manufacturing  ·  25 countries  ·  1M invoices/month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77777"/>
                </a:solidFill>
                <a:latin typeface="Calibri"/>
              </a:rPr>
              <a:t>AI Architect Case Study  —  Akhil Ahmed  —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The Business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106424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Calibri"/>
              </a:rPr>
              <a:t>Acme processes 1M invoices/month manually — it doesn't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2560320" cy="1280160"/>
          </a:xfrm>
          <a:prstGeom prst="rect">
            <a:avLst/>
          </a:prstGeom>
          <a:solidFill>
            <a:srgbClr val="DDEBF7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E75B6"/>
                </a:solidFill>
                <a:latin typeface="Calibri"/>
              </a:rPr>
              <a:t>1M+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invoices / month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188720"/>
            <a:ext cx="2560320" cy="1280160"/>
          </a:xfrm>
          <a:prstGeom prst="rect">
            <a:avLst/>
          </a:prstGeom>
          <a:solidFill>
            <a:srgbClr val="DDEBF7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28016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E75B6"/>
                </a:solidFill>
                <a:latin typeface="Calibri"/>
              </a:rPr>
              <a:t>3–5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874519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manual cycle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188720"/>
            <a:ext cx="2560320" cy="1280160"/>
          </a:xfrm>
          <a:prstGeom prst="rect">
            <a:avLst/>
          </a:prstGeom>
          <a:solidFill>
            <a:srgbClr val="FFE8E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28016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E75B6"/>
                </a:solidFill>
                <a:latin typeface="Calibri"/>
              </a:rPr>
              <a:t>2–3%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874519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error 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1188720"/>
            <a:ext cx="2560320" cy="1280160"/>
          </a:xfrm>
          <a:prstGeom prst="rect">
            <a:avLst/>
          </a:prstGeom>
          <a:solidFill>
            <a:srgbClr val="FFE8E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128016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E75B6"/>
                </a:solidFill>
                <a:latin typeface="Calibri"/>
              </a:rPr>
              <a:t>$2M+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1874519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monthly exposure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743200"/>
            <a:ext cx="5394960" cy="347472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7889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Current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20040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Finance manually checks every invoice vs PO and GRN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No pattern detection — same vendor errors repeat monthly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25 countries, 4 currencies, 2 ERPs — no unified view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GDPR compliance not enforced at data ingestion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2743200"/>
            <a:ext cx="5669280" cy="3474720"/>
          </a:xfrm>
          <a:prstGeom prst="rect">
            <a:avLst/>
          </a:prstGeom>
          <a:solidFill>
            <a:srgbClr val="E8F4E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27889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7864F"/>
                </a:solidFill>
                <a:latin typeface="Calibri"/>
              </a:rPr>
              <a:t>SmartPay AP Delivers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200400"/>
            <a:ext cx="5394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Automated invoice-to-PO-to-GRN reconciliation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Real-time mismatch detection with explainable reasons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LLM drafts vendor dispute emails via MCP tools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Human approves every action — no autonomous payments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End-to-End Data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106424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Calibri"/>
              </a:rPr>
              <a:t>From invoice arrival to payment or dispute — every step shown</a:t>
            </a:r>
          </a:p>
        </p:txBody>
      </p:sp>
      <p:pic>
        <p:nvPicPr>
          <p:cNvPr id="6" name="Picture 5" descr="diagram_data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1179576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Solution Architecture — 5 Layers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106424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iagram_architecture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Data Ingestion 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106424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Calibri"/>
              </a:rPr>
              <a:t>Three input channels — all normalised to common schema before processing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657600" cy="50292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Email (MS Graph API)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737360"/>
            <a:ext cx="3200400" cy="3657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Graph API monitors AP inbox 24/7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New email triggers event automatically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PDF attachment saved to Azure Blob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Form Recognizer extracts structured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188720"/>
            <a:ext cx="3657600" cy="50292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2801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PDF (Azure Blob / SFTP)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737360"/>
            <a:ext cx="3200400" cy="3657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82880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Vendor uploads PDF to supplier portal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Azure Data Factory detects new file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Form Recognizer reads and extracts fields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Data normalised to common invoice schema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188720"/>
            <a:ext cx="3657600" cy="50292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2801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EDI (Azure Logic Apps)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66760" y="1737360"/>
            <a:ext cx="3200400" cy="3657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82880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Vendor ERP sends X12/EDIFACT directly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Logic Apps receives at EDI endpoint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Fields mapped to common schema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No Form Recognizer needed — already structured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95959"/>
                </a:solidFill>
                <a:latin typeface="Calibri"/>
              </a:rPr>
              <a:t>All three channels produce same output: normalised invoice → Azure Event Hubs → LangGraph agent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Matching Model — D2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106424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Calibri"/>
              </a:rPr>
              <a:t>Two-layer design: rules for explainability, ML for edge cases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394960" cy="457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Layer 1 — Rule-Based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4592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Quantity mismatch: invoice qty != PO qty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Price mismatch: deviation &gt; 1% from PO price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GRN not received: goods receipt qty = 0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Duplicate invoice: same ID submitted twice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Item not in PO: item code not on order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Currency mismatch: invoice != PO currency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188720"/>
            <a:ext cx="5669280" cy="457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234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Layer 2 — Random Forest (scikit-learn)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45920"/>
            <a:ext cx="5394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13 features: qty delta %, price delta %, GRN gap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Random Forest — 100 trees, balanced class weights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Trained on 1,200 labeled examples (80/20 split)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Why RF: interpretable, fast, feature importance for audit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Why not XGBoost: RF gives cleaner audit trail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4023360"/>
            <a:ext cx="4114800" cy="438912"/>
          </a:xfrm>
          <a:prstGeom prst="rect">
            <a:avLst/>
          </a:prstGeom>
          <a:solidFill>
            <a:srgbClr val="DDEBF7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407822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407822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A1A2E"/>
                </a:solidFill>
                <a:latin typeface="Calibri"/>
              </a:rPr>
              <a:t>89%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4526280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458114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Precision (MISMATCH)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45811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37864F"/>
                </a:solidFill>
                <a:latin typeface="Calibri"/>
              </a:rPr>
              <a:t>100%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5029200"/>
            <a:ext cx="4114800" cy="438912"/>
          </a:xfrm>
          <a:prstGeom prst="rect">
            <a:avLst/>
          </a:prstGeom>
          <a:solidFill>
            <a:srgbClr val="DDEBF7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508406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Recall (MISMATCH)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508406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A1A2E"/>
                </a:solidFill>
                <a:latin typeface="Calibri"/>
              </a:rPr>
              <a:t>57%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5532120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558698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False Positive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558698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37864F"/>
                </a:solidFill>
                <a:latin typeface="Calibri"/>
              </a:rPr>
              <a:t>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852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95959"/>
                </a:solidFill>
                <a:latin typeface="Calibri"/>
              </a:rPr>
              <a:t>Design choice: 100% precision — every flag is actionable. 57% recall is intentional — false positives cost more in AP.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Agentic Workflow — D3 (LangGraph)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106424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Calibri"/>
              </a:rPr>
              <a:t>7-node deterministic workflow with RAG, HITL, MCP and guardrails</a:t>
            </a:r>
          </a:p>
        </p:txBody>
      </p:sp>
      <p:pic>
        <p:nvPicPr>
          <p:cNvPr id="6" name="Picture 5" descr="diagram_agent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498079" cy="5577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11887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Why LangGraph?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64592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Deterministic — exact node sequence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Native HITL — pause built in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Auditable — every step logged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Not CrewAI — better for fixed AP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36576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Key Guardrails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114800"/>
            <a:ext cx="3840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Invoices &gt; $50K blocked automatically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Input validation on all tool calls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No autonomous payment actions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Rate limiting on LLM calls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ERP Integration — SAP &amp; Oracle via MCP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106424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94960" cy="50292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SAP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SAP MCP Server exposes BAPI/RFC endpoints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PO lookup: ME23N transaction via BAPI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GRN lookup: MIGO/MIRO transaction BAPIs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Payment trigger: SAP FI module (F-53)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Auth: SAP service user, minimum permissions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Agent calls SAP via MCP — no custom connector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188720"/>
            <a:ext cx="5669280" cy="50292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Oracle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4592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Oracle MCP Server exposes REST endpoints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PO: /fscmRestApi/resources/purchaseOrders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GRN: /fscmRestApi/resources/receivingReceipts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Auth: OAuth 2.0 with token refresh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Rate-limited with exponential backoff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Agent calls Oracle via MCP — same protocol as SAP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Multi-Cloud Architecture — Azure + AWS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106424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iagram_multiclo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Security, Access Control &amp; GDPR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106424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0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Access Control (RBAC)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Azure AD — 4 roles: AP Clerk (view), Specialist (approve &lt;$10K), Manager (approve &lt;$50K), Controller (approve any). Enforced at API Gateway before reaching agent.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188720"/>
            <a:ext cx="5486400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280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Audit Trail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69164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Every agent decision logged: timestamp, user ID, invoice ID, result, rationale. Immutable in AWS S3. 7-year retention.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26080"/>
            <a:ext cx="5486400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Data Privacy (GDPR)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42900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PII encrypted at rest (AES-256) and in transit (TLS 1.3). EU invoices stay in Azure West Europe. GDPR Art. 44.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926080"/>
            <a:ext cx="5486400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30175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Data Residency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42900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EU invoices processed only in Azure West Europe. Never leaves EU boundary. Right to erasure in 30 days.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663440"/>
            <a:ext cx="5486400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75487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Secrets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166359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Azure Key Vault for all credentials. SAP/Oracle passwords never in code or environment variables.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4663440"/>
            <a:ext cx="5486400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475487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Model Governance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5166359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All predictions logged. Bias monitoring by vendor, currency, country. Auto-alert if model drifts.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Responsible AI — D4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106424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0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Bias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Flag rates monitored weekly by vendor, country, currency. Alert if any segment flagged &gt;3x average rate.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188720"/>
            <a:ext cx="5486400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280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Explainability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69164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Every mismatch shows which rule triggered and top ML feature. Finance team always knows why invoice was flagged.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26080"/>
            <a:ext cx="5486400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Human Oversight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42900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No payment or email sent without human approval. HITL is hardcoded — not configurable.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926080"/>
            <a:ext cx="5486400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30175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Model Monitoring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42900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Precision/recall tracked weekly in MLflow. Auto-retrain if precision drops below 95%.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663440"/>
            <a:ext cx="5486400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75487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Guardrails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166359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High-value invoices (&gt;$50K) always manual. Input validation on all MCP tool calls.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4663440"/>
            <a:ext cx="5486400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475487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Data Minimisation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5166359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Only matching features used in training. No vendor identity or payment history in ML model.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Tech Stack — What We Actually Built vs 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106424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94960" cy="50292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7864F"/>
                </a:solidFill>
                <a:latin typeface="Calibri"/>
              </a:rPr>
              <a:t>Built &amp; Tested (MVP)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Python 3.11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pandas 2.2.2 — data manipulation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numpy 1.26.4 — numerical operations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scikit-learn 1.5.0 — Random Forest model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matplotlib 3.10.9 — feature importance chart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LangGraph 0.1.5 — agent workflow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LangChain 0.2.5 — LLM abstraction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OpenAI 1.30.5 — GPT-4 email drafting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Jupyter — D2 notebook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188720"/>
            <a:ext cx="5669280" cy="50292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Production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4592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Azure Form Recognizer — PDF extraction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Azure Event Hubs — Kafka-compatible streaming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Azure API Management — gateway + auth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Azure AD — RBAC access control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Azure Container Apps — agent hosting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Azure Key Vault — secrets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AWS S3 — immutable audit logs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Amazon SageMaker — ML training at scale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MCP Protocol — SAP/Oracle connectivity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MLflow — model registry + monitoring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Trade-offs &amp; Design Decisions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106424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0" cy="228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LangGraph over CrewAI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AP reconciliation is a fixed sequential workflow. LangGraph gives deterministic control and native HITL. CrewAI suits autonomous multi-agent tasks — not this use case.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188720"/>
            <a:ext cx="5486400" cy="228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2801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Rules + Random Forest over Neural Networks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78308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Rules are explainable — auditors need clear reasons for every flag. RF catches subtle patterns rules miss. Neural nets are black-box and overkill for tabular AP data.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657600"/>
            <a:ext cx="5486400" cy="228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749039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RAG over Fine-tuning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5196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Vendor contracts change frequently. RAG retrieves latest data without retraining. Fine-tuning becomes stale after every contract update.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657600"/>
            <a:ext cx="5486400" cy="228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3749039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MCP over Custom Connectors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25196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MCP gives standardised connectivity to SAP, Oracle, and Azure. Adding a new system = deploy new MCP server. No agent code changes needed.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