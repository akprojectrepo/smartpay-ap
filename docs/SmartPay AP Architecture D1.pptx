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SmartPay 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02C39A"/>
                </a:solidFill>
                <a:latin typeface="Calibri"/>
              </a:rPr>
              <a:t>Agentic AI Platform for Invoice Reconciliation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514600"/>
            <a:ext cx="2286000" cy="45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  <a:latin typeface="Calibri"/>
              </a:rPr>
              <a:t>Acme Manufacturing — 25 countries — 1,000+ suppliers — 1M invoices/month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Manual AP reconciliation doesn't scale. SmartPay AP automates
invoice matching, mismatch detection, dispute drafting, and payment
workflows — with human oversight at every critical decision point.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17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6454F"/>
                </a:solidFill>
                <a:latin typeface="Calibri"/>
              </a:rPr>
              <a:t>AI Architect Case Study  |  HTC Global Services  |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The Problem We're Solving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2286000" cy="45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560320" cy="128016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2C39A"/>
                </a:solidFill>
                <a:latin typeface="Calibri"/>
              </a:rPr>
              <a:t>1M+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2E8F0"/>
                </a:solidFill>
                <a:latin typeface="Calibri"/>
              </a:rPr>
              <a:t>Invoices per month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1188720"/>
            <a:ext cx="2560320" cy="128016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280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2C39A"/>
                </a:solidFill>
                <a:latin typeface="Calibri"/>
              </a:rPr>
              <a:t>3-5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87451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2E8F0"/>
                </a:solidFill>
                <a:latin typeface="Calibri"/>
              </a:rPr>
              <a:t>Manual cycle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188720"/>
            <a:ext cx="2560320" cy="128016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1280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2C39A"/>
                </a:solidFill>
                <a:latin typeface="Calibri"/>
              </a:rPr>
              <a:t>2-3%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187451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2E8F0"/>
                </a:solidFill>
                <a:latin typeface="Calibri"/>
              </a:rPr>
              <a:t>Error rate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95360" y="1188720"/>
            <a:ext cx="2560320" cy="128016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1280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2C39A"/>
                </a:solidFill>
                <a:latin typeface="Calibri"/>
              </a:rPr>
              <a:t>$2M+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87451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2E8F0"/>
                </a:solidFill>
                <a:latin typeface="Calibri"/>
              </a:rPr>
              <a:t>Monthly exposure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743200"/>
            <a:ext cx="5303520" cy="347472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83464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2C39A"/>
                </a:solidFill>
                <a:latin typeface="Calibri"/>
              </a:rPr>
              <a:t>Current State — Manual Process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Finance team manually checks every invoice against POs and GRNs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Takes 3–5 days per invoice cycle — suppliers complain about delays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No pattern detection across vendors — same errors repeated monthly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25 countries, 4 currencies, 2 ERPs (SAP + Oracle) — no unified view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Regulatory risk: GDPR compliance not enforced at data ingestion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0" y="2743200"/>
            <a:ext cx="5852160" cy="347472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8346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2C39A"/>
                </a:solidFill>
                <a:latin typeface="Calibri"/>
              </a:rPr>
              <a:t>What SmartPay AP Delivers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Automated invoice-to-PO-to-GRN reconciliation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Real-time mismatch detection with explainable reasons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Auto-draft vendor dispute emails with LLM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Human-in-the-loop before any payment action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Multi-cloud (Azure + AWS), GDPR-compliant, auditable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Solution Architecture — SmartPay 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2286000" cy="45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1B4F72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Layer 5  —  Security &amp;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118872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GDPR, Azure Key Vault, Audit Trail, RBAC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48840"/>
            <a:ext cx="11247120" cy="822960"/>
          </a:xfrm>
          <a:prstGeom prst="rect">
            <a:avLst/>
          </a:prstGeom>
          <a:solidFill>
            <a:srgbClr val="0E6655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194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Layer 4  —  Agent Layer (D3)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219456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LangGraph Workflow, RAG Lookup, HITL, Guardrails, Email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154680"/>
            <a:ext cx="11247120" cy="822960"/>
          </a:xfrm>
          <a:prstGeom prst="rect">
            <a:avLst/>
          </a:prstGeom>
          <a:solidFill>
            <a:srgbClr val="1A5276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200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Layer 3  —  AI / ML Layer (D2)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32004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Rule Engine + Random Forest Matching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160520"/>
            <a:ext cx="11247120" cy="822960"/>
          </a:xfrm>
          <a:prstGeom prst="rect">
            <a:avLst/>
          </a:prstGeom>
          <a:solidFill>
            <a:srgbClr val="4A235A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Layer 2  —  Integration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420624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SAP BAPI, Oracle REST, Kafka Event Bus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66360"/>
            <a:ext cx="11247120" cy="822960"/>
          </a:xfrm>
          <a:prstGeom prst="rect">
            <a:avLst/>
          </a:prstGeom>
          <a:solidFill>
            <a:srgbClr val="784212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212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Layer 1  —  Data Ingestion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521208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Azure Form Recognizer, PDF/Email/EDI, Azure Data Factory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Data Ingestion Layer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2286000" cy="45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201168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2C39A"/>
                </a:solidFill>
                <a:latin typeface="Calibri"/>
              </a:rPr>
              <a:t>PDF Invoices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Azure Form Recognizer extracts structured fields — vendor, amount, line items, PO reference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201168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2344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2C39A"/>
                </a:solidFill>
                <a:latin typeface="Calibri"/>
              </a:rPr>
              <a:t>Email Feeds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Microsoft Graph API monitors AP inbox. Attachments parsed automatically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201168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2344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2C39A"/>
                </a:solidFill>
                <a:latin typeface="Calibri"/>
              </a:rPr>
              <a:t>EDI Feeds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X12/EDIFACT EDI messages ingested via Azure Logic Apps and normalized to common schema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83280"/>
            <a:ext cx="11430000" cy="265176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2C39A"/>
                </a:solidFill>
                <a:latin typeface="Calibri"/>
              </a:rPr>
              <a:t>Pipeline Design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All ingested data normalized to a common Invoice schema before processing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Azure Data Factory orchestrates batch + streaming ingestion pipelines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Raw files stored in AWS S3 (immutable) for audit trail and reprocessing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PII fields (vendor names, bank details) encrypted at rest — GDPR Article 32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Schema validation rejects malformed invoices before they enter the pipeline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ML Matching Model — D2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2286000" cy="45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03520" cy="512064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9377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2C39A"/>
                </a:solidFill>
                <a:latin typeface="Calibri"/>
              </a:rPr>
              <a:t>Layer 1 — Rule-Based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Quantity mismatch: invoice qty != PO qty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Price mismatch: deviation &gt; 1% from agreed PO price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GRN not received: goods receipt qty = 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Duplicate invoice: same invoice_id submitted twice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Item not in PO: item code not on purchase order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Currency mismatch: invoice currency != PO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66160"/>
            <a:ext cx="49377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2C39A"/>
                </a:solidFill>
                <a:latin typeface="Calibri"/>
              </a:rPr>
              <a:t>Layer 2 — Random Forest ML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13 engineered features: qty delta %, price delta %, GRN gap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Random Forest — 100 trees, balanced class weights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Trained on 1,200 labeled examples (80/20 split)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Why Random Forest: interpretable, fast, handles class imbalance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Not XGBoost: RF gives feature importance out-of-box for audit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097280"/>
            <a:ext cx="5852160" cy="512064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1887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2C39A"/>
                </a:solidFill>
                <a:latin typeface="Calibri"/>
              </a:rPr>
              <a:t>Evaluation Results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737360"/>
            <a:ext cx="557784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18105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Calibri"/>
              </a:rPr>
              <a:t>Overall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181051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02C39A"/>
                </a:solidFill>
                <a:latin typeface="Calibri"/>
              </a:rPr>
              <a:t>89%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2468880"/>
            <a:ext cx="557784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25420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Calibri"/>
              </a:rPr>
              <a:t>Precision (MISMATCH)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254203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02C39A"/>
                </a:solidFill>
                <a:latin typeface="Calibri"/>
              </a:rPr>
              <a:t>100%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3200400"/>
            <a:ext cx="557784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32735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Calibri"/>
              </a:rPr>
              <a:t>Recall (MISMATCH)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3273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02C39A"/>
                </a:solidFill>
                <a:latin typeface="Calibri"/>
              </a:rPr>
              <a:t>57%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3931920"/>
            <a:ext cx="557784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4005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  <a:latin typeface="Calibri"/>
              </a:rPr>
              <a:t>False Positive 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400507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02C39A"/>
                </a:solidFill>
                <a:latin typeface="Calibri"/>
              </a:rPr>
              <a:t>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4846320"/>
            <a:ext cx="5669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  <a:latin typeface="Calibri"/>
              </a:rPr>
              <a:t>Design decision: 100% precision means every flag raised is actionable.
57% recall is acceptable — missed mismatches caught in finance audit.
False positives (blocking good invoices) are more costly than false negatives.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Agentic Workflow — D3 (LangGraph)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2286000" cy="45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486400" cy="1463040"/>
          </a:xfrm>
          <a:prstGeom prst="rect">
            <a:avLst/>
          </a:prstGeom>
          <a:solidFill>
            <a:srgbClr val="36454F"/>
          </a:solidFill>
          <a:ln w="1905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2C39A"/>
                </a:solidFill>
                <a:latin typeface="Calibri"/>
              </a:rPr>
              <a:t>1  Load Invoice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19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Fetch invoice lines, vendor, total from dataset / ERP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097280"/>
            <a:ext cx="5486400" cy="1463040"/>
          </a:xfrm>
          <a:prstGeom prst="rect">
            <a:avLst/>
          </a:prstGeom>
          <a:solidFill>
            <a:srgbClr val="36454F"/>
          </a:solidFill>
          <a:ln w="1905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2C39A"/>
                </a:solidFill>
                <a:latin typeface="Calibri"/>
              </a:rPr>
              <a:t>2  Guardrail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645919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Block invoices &gt; $50K from auto-processing — route to manual 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834639"/>
            <a:ext cx="5486400" cy="1463040"/>
          </a:xfrm>
          <a:prstGeom prst="rect">
            <a:avLst/>
          </a:prstGeom>
          <a:solidFill>
            <a:srgbClr val="36454F"/>
          </a:solidFill>
          <a:ln w="1905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92607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2C39A"/>
                </a:solidFill>
                <a:latin typeface="Calibri"/>
              </a:rPr>
              <a:t>3  Matching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83279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Call D2 model as tool — returns MATCH or MISMATCH with details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39"/>
            <a:ext cx="5486400" cy="1463040"/>
          </a:xfrm>
          <a:prstGeom prst="rect">
            <a:avLst/>
          </a:prstGeom>
          <a:solidFill>
            <a:srgbClr val="36454F"/>
          </a:solidFill>
          <a:ln w="1905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92607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2C39A"/>
                </a:solidFill>
                <a:latin typeface="Calibri"/>
              </a:rPr>
              <a:t>4  RAG Lookup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383279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Retrieve vendor contract terms, dispute history, AP policy from knowledge base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572000"/>
            <a:ext cx="5486400" cy="1463040"/>
          </a:xfrm>
          <a:prstGeom prst="rect">
            <a:avLst/>
          </a:prstGeom>
          <a:solidFill>
            <a:srgbClr val="36454F"/>
          </a:solidFill>
          <a:ln w="1905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66344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2C39A"/>
                </a:solidFill>
                <a:latin typeface="Calibri"/>
              </a:rPr>
              <a:t>5  Draft Email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12064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LLM generates dispute email grounded in RAG context (GPT-4 / mock)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572000"/>
            <a:ext cx="5486400" cy="1463040"/>
          </a:xfrm>
          <a:prstGeom prst="rect">
            <a:avLst/>
          </a:prstGeom>
          <a:solidFill>
            <a:srgbClr val="36454F"/>
          </a:solidFill>
          <a:ln w="1905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66344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2C39A"/>
                </a:solidFill>
                <a:latin typeface="Calibri"/>
              </a:rPr>
              <a:t>6  Human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12064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HITL pause — finance team reviews email before sending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6309359"/>
            <a:ext cx="5486400" cy="1463040"/>
          </a:xfrm>
          <a:prstGeom prst="rect">
            <a:avLst/>
          </a:prstGeom>
          <a:solidFill>
            <a:srgbClr val="36454F"/>
          </a:solidFill>
          <a:ln w="1905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640079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2C39A"/>
                </a:solidFill>
                <a:latin typeface="Calibri"/>
              </a:rPr>
              <a:t>7  Execute 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857999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Send email to vendor OR escalate to AP Manager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3550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  <a:latin typeface="Calibri"/>
              </a:rPr>
              <a:t>Why LangGraph over CrewAI/Autogen: Deterministic flow, native HITL support, auditable step execution. CrewAI is better for multi-agent collaboration tasks. AP reconciliation is a fixed sequential workflow — LangGraph is the right fit.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ERP Integration — SAP &amp; Oracle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2286000" cy="45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512064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029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2C39A"/>
                </a:solidFill>
                <a:latin typeface="Calibri"/>
              </a:rPr>
              <a:t>SAP Integration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SAP BAPI/RFC calls to fetch PO data (ME23N transaction)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GRN data via SAP MIGO/MIRO transaction BAPIs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Vendor master data from SAP LFA1 table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Payment trigger via SAP FI module (F-53 posting)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Connection via SAP JCo connector (Java Connector)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All calls authenticated via SAP service user with minimal permissions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1097280"/>
            <a:ext cx="5760720" cy="512064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1887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2C39A"/>
                </a:solidFill>
                <a:latin typeface="Calibri"/>
              </a:rPr>
              <a:t>Oracle Integration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Oracle REST APIs (Oracle ERP Cloud / Oracle Fusion)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PO lookup via /fscmRestApi/resources/purchaseOrders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GRN lookup via /fscmRestApi/resources/receivingReceipts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OAuth 2.0 authentication with token refresh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All API calls rate-limited and retried with exponential backoff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Oracle Fusion middleware acts as integration layer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Multi-Cloud Architecture — Azure + AWS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2286000" cy="45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438912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2C39A"/>
                </a:solidFill>
                <a:latin typeface="Calibri"/>
              </a:rPr>
              <a:t>Azure (Primary Processing Cloud)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Azure Form Recognizer — document extraction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Azure OpenAI (GPT-4) — dispute email drafting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Azure Data Factory — data pipeline orchestration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Azure Key Vault — secrets management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Azure Monitor — logging, alerts, dashboards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Azure Container Apps — agent deployment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1097280"/>
            <a:ext cx="5760720" cy="438912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18872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2C39A"/>
                </a:solidFill>
                <a:latin typeface="Calibri"/>
              </a:rPr>
              <a:t>AWS (ML Training + Storage)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AWS S3 — raw invoice/document archival (immutable)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Amazon SageMaker — ML model training &amp; versioning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AWS Lambda — event-driven invoice triggers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AWS Secrets Manager — AWS-side secrets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Amazon CloudWatch — AWS-side monitoring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  AWS EventBridge — cross-cloud event routing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669280"/>
            <a:ext cx="11430000" cy="914400"/>
          </a:xfrm>
          <a:prstGeom prst="rect">
            <a:avLst/>
          </a:prstGeom>
          <a:solidFill>
            <a:srgbClr val="0E6655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Common MLOps Layer: MLflow (model registry, experiment tracking) bridges both clouds. Apache Kafka handles invoice event streaming across cloud boundaries. LangGraph agent is cloud-agnostic — runs anywhere Python runs.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Security &amp; GDPR Compliance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2286000" cy="45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486400" cy="146304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  <a:latin typeface="Calibri"/>
              </a:rPr>
              <a:t>Data Privacy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PII fields encrypted at rest (AES-256) and in transit (TLS 1.3). Vendor bank details never stored in ML dataset.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097280"/>
            <a:ext cx="5486400" cy="146304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1887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  <a:latin typeface="Calibri"/>
              </a:rPr>
              <a:t>Access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60020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RBAC — AP clerks can view, managers can approve, admins can configure. Azure AD integration.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834639"/>
            <a:ext cx="5486400" cy="146304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92607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  <a:latin typeface="Calibri"/>
              </a:rPr>
              <a:t>Audit Trail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37559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Every agent decision logged with timestamp, user, invoice ID, and rationale. Immutable log in AWS S3.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39"/>
            <a:ext cx="5486400" cy="146304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92607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  <a:latin typeface="Calibri"/>
              </a:rPr>
              <a:t>Data Residency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337559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EU invoices processed only in Azure West Europe. Data never leaves EU boundary — GDPR Article 44.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572000"/>
            <a:ext cx="5486400" cy="146304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6634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  <a:latin typeface="Calibri"/>
              </a:rPr>
              <a:t>Right to Erasure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07492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Vendor data deletion workflow implemented. PII removed from all datasets within 30 days of request.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572000"/>
            <a:ext cx="5486400" cy="146304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6634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  <a:latin typeface="Calibri"/>
              </a:rPr>
              <a:t>Model Governance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07492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All model predictions logged. Bias monitoring on vendor, currency, and country dimensions.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Responsible AI — D4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2286000" cy="45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486400" cy="146304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  <a:latin typeface="Calibri"/>
              </a:rPr>
              <a:t>Bias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Monitor mismatch flag rates by vendor, country, and currency. Alert if any segment is flagged &gt;3x the average rate — potential model bias.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097280"/>
            <a:ext cx="5486400" cy="146304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1887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  <a:latin typeface="Calibri"/>
              </a:rPr>
              <a:t>Explainability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60020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Every mismatch flag includes: which rule triggered, which feature drove ML decision, and confidence score. Finance teams can always understand why an invoice was flagged.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834639"/>
            <a:ext cx="5486400" cy="146304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92607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  <a:latin typeface="Calibri"/>
              </a:rPr>
              <a:t>Human Oversight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37559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No payment action taken without human approval. Agent cannot send emails or trigger SAP payments autonomously. HITL is mandatory, not optional.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34639"/>
            <a:ext cx="5486400" cy="146304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92607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  <a:latin typeface="Calibri"/>
              </a:rPr>
              <a:t>Model Monitoring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337559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Precision/recall tracked weekly in MLflow. Drift detection on feature distributions. Auto-alert if precision drops below 95% — model retrain triggered.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572000"/>
            <a:ext cx="5486400" cy="146304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6634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  <a:latin typeface="Calibri"/>
              </a:rPr>
              <a:t>Guardrails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07492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High-value invoices (&gt;$50K) always routed to manual review regardless of model decision. Agent tool misuse prevented via input validation in matching_tool().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572000"/>
            <a:ext cx="5486400" cy="146304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6634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  <a:latin typeface="Calibri"/>
              </a:rPr>
              <a:t>Data Minimisation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07492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ML model trained only on features needed for matching. No vendor identity, no payment history, no personal data included in training features.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Cost Estimate — MVP at 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2286000" cy="45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30000" cy="384048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  <a:latin typeface="Calibri"/>
              </a:rPr>
              <a:t>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18872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  <a:latin typeface="Calibri"/>
              </a:rPr>
              <a:t>Usage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188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  <a:latin typeface="Calibri"/>
              </a:rPr>
              <a:t>Est. Monthly Cost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45920"/>
            <a:ext cx="1124712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Azure Form Recognizer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9164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1M invoices/month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2C39A"/>
                </a:solidFill>
                <a:latin typeface="Calibri"/>
              </a:rPr>
              <a:t>$1,500/month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148840"/>
            <a:ext cx="11247120" cy="457200"/>
          </a:xfrm>
          <a:prstGeom prst="rect">
            <a:avLst/>
          </a:prstGeom>
          <a:solidFill>
            <a:srgbClr val="364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1945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Azure OpenAI (GPT-4)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19456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~75K dispute emails (7.5% mismatch rate)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194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2C39A"/>
                </a:solidFill>
                <a:latin typeface="Calibri"/>
              </a:rPr>
              <a:t>$2,200/month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51760"/>
            <a:ext cx="1124712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6974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Azure Container Apps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6974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Agent workflow hosting, auto-scaled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697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2C39A"/>
                </a:solidFill>
                <a:latin typeface="Calibri"/>
              </a:rPr>
              <a:t>$800/month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solidFill>
            <a:srgbClr val="364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2004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AWS S3 + SageMaker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2004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Document archival + model training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3200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2C39A"/>
                </a:solidFill>
                <a:latin typeface="Calibri"/>
              </a:rPr>
              <a:t>$600/month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657600"/>
            <a:ext cx="1124712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7033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Azure Data Factory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370332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Pipeline orchestration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3703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2C39A"/>
                </a:solidFill>
                <a:latin typeface="Calibri"/>
              </a:rPr>
              <a:t>$400/month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160520"/>
            <a:ext cx="11247120" cy="457200"/>
          </a:xfrm>
          <a:prstGeom prst="rect">
            <a:avLst/>
          </a:prstGeom>
          <a:solidFill>
            <a:srgbClr val="364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2062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MLflow + Monitoring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420624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Model registry + observability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4206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2C39A"/>
                </a:solidFill>
                <a:latin typeface="Calibri"/>
              </a:rPr>
              <a:t>$300/month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5120640"/>
            <a:ext cx="11430000" cy="1371600"/>
          </a:xfrm>
          <a:prstGeom prst="rect">
            <a:avLst/>
          </a:prstGeom>
          <a:solidFill>
            <a:srgbClr val="0E6655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2120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Total MVP Cost: ~$5,800/month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6692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ROI: Current manual cost ~$45K/month (30 FTEs x $1,500). SmartPay AP saves ~$39K/month = 650% ROI.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Trade-offs &amp; Design Decisions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2286000" cy="457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486400" cy="228600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  <a:latin typeface="Calibri"/>
              </a:rPr>
              <a:t>LangGraph over CrewAI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19"/>
            <a:ext cx="52120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Chose: LangGraph
Why: Fixed sequential workflow with deterministic steps. Native HITL support. Auditable graph execution.
Rejected: CrewAI — better for autonomous multi-agent collaboration, not fixed AP flows.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097280"/>
            <a:ext cx="5486400" cy="228600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  <a:latin typeface="Calibri"/>
              </a:rPr>
              <a:t>Rules + ML over pure 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645919"/>
            <a:ext cx="52120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Chose: Hybrid rule + Random Forest
Why: Rules are explainable (auditors require this). ML catches subtle patterns rules miss.
Rejected: Neural networks — black box, hard to audit, overkill for tabular data.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657600"/>
            <a:ext cx="5486400" cy="228600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74903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  <a:latin typeface="Calibri"/>
              </a:rPr>
              <a:t>RAG over Fine-tuning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06240"/>
            <a:ext cx="52120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Chose: RAG with Azure AI Search
Why: Vendor contracts change frequently. RAG retrieves latest data without retraining.
Rejected: Fine-tuning — expensive, stale after contract updates, hard to audit.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3657600"/>
            <a:ext cx="5486400" cy="2286000"/>
          </a:xfrm>
          <a:prstGeom prst="rect">
            <a:avLst/>
          </a:prstGeom>
          <a:solidFill>
            <a:srgbClr val="36454F"/>
          </a:solidFill>
          <a:ln w="127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74903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  <a:latin typeface="Calibri"/>
              </a:rPr>
              <a:t>100% Precision over Recall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206240"/>
            <a:ext cx="52120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Chose: Optimise for precision
Why: False positives (blocking good invoices) damage supplier relationships. False negatives (missed fraud) caught in audit.
Trade-off: 57% recall — 43% of mismatches require audit catch.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